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4"/>
  </p:notesMasterIdLst>
  <p:sldIdLst>
    <p:sldId id="268" r:id="rId2"/>
    <p:sldId id="267" r:id="rId3"/>
    <p:sldId id="271" r:id="rId4"/>
    <p:sldId id="273" r:id="rId5"/>
    <p:sldId id="272" r:id="rId6"/>
    <p:sldId id="280" r:id="rId7"/>
    <p:sldId id="274" r:id="rId8"/>
    <p:sldId id="275" r:id="rId9"/>
    <p:sldId id="281" r:id="rId10"/>
    <p:sldId id="278" r:id="rId11"/>
    <p:sldId id="279" r:id="rId12"/>
    <p:sldId id="265"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12" autoAdjust="0"/>
    <p:restoredTop sz="94660"/>
  </p:normalViewPr>
  <p:slideViewPr>
    <p:cSldViewPr>
      <p:cViewPr varScale="1">
        <p:scale>
          <a:sx n="81" d="100"/>
          <a:sy n="81" d="100"/>
        </p:scale>
        <p:origin x="1517" y="3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7F551A-A6AF-4FC0-8FCD-A1762F5164A4}" type="datetimeFigureOut">
              <a:rPr lang="en-US" smtClean="0"/>
              <a:t>11/25/2024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C2C416-28AC-43AF-BB36-BFE6A59B84C5}" type="slidenum">
              <a:rPr lang="en-US" smtClean="0"/>
              <a:t>‹#›</a:t>
            </a:fld>
            <a:endParaRPr lang="en-US"/>
          </a:p>
        </p:txBody>
      </p:sp>
    </p:spTree>
    <p:extLst>
      <p:ext uri="{BB962C8B-B14F-4D97-AF65-F5344CB8AC3E}">
        <p14:creationId xmlns:p14="http://schemas.microsoft.com/office/powerpoint/2010/main" val="1332967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C2C416-28AC-43AF-BB36-BFE6A59B84C5}" type="slidenum">
              <a:rPr lang="en-US" smtClean="0"/>
              <a:t>4</a:t>
            </a:fld>
            <a:endParaRPr lang="en-US"/>
          </a:p>
        </p:txBody>
      </p:sp>
    </p:spTree>
    <p:extLst>
      <p:ext uri="{BB962C8B-B14F-4D97-AF65-F5344CB8AC3E}">
        <p14:creationId xmlns:p14="http://schemas.microsoft.com/office/powerpoint/2010/main" val="41208364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5486400" cy="914400"/>
          </a:xfrm>
        </p:spPr>
        <p:txBody>
          <a:bodyPr/>
          <a:lstStyle>
            <a:lvl1pPr>
              <a:defRPr sz="3200" b="1">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533400" y="1371600"/>
            <a:ext cx="8153400" cy="472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1D5BB0C6-8FC1-47C0-B737-D54E21B5B868}" type="datetimeFigureOut">
              <a:rPr lang="en-US" smtClean="0"/>
              <a:pPr/>
              <a:t>11/25/2024</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F8887D6-2A35-42AC-99C1-5E14D32EE4CF}" type="slidenum">
              <a:rPr lang="en-US" smtClean="0"/>
              <a:pPr/>
              <a:t>‹#›</a:t>
            </a:fld>
            <a:endParaRPr lang="en-US"/>
          </a:p>
        </p:txBody>
      </p:sp>
    </p:spTree>
  </p:cSld>
  <p:clrMapOvr>
    <a:masterClrMapping/>
  </p:clrMapOvr>
  <p:transition advTm="4000">
    <p:cu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0" descr="LOGO.gif"/>
          <p:cNvPicPr>
            <a:picLocks noChangeAspect="1"/>
          </p:cNvPicPr>
          <p:nvPr/>
        </p:nvPicPr>
        <p:blipFill>
          <a:blip r:embed="rId2"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5" name="Group 7"/>
          <p:cNvGrpSpPr>
            <a:grpSpLocks/>
          </p:cNvGrpSpPr>
          <p:nvPr/>
        </p:nvGrpSpPr>
        <p:grpSpPr bwMode="auto">
          <a:xfrm>
            <a:off x="6146800" y="0"/>
            <a:ext cx="2997200" cy="876300"/>
            <a:chOff x="6096000" y="3924300"/>
            <a:chExt cx="2997200" cy="876300"/>
          </a:xfrm>
        </p:grpSpPr>
        <p:sp>
          <p:nvSpPr>
            <p:cNvPr id="6"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7" name="Picture 9" descr="LOGO.gif"/>
            <p:cNvPicPr>
              <a:picLocks noChangeAspect="1"/>
            </p:cNvPicPr>
            <p:nvPr/>
          </p:nvPicPr>
          <p:blipFill>
            <a:blip r:embed="rId2" cstate="print"/>
            <a:srcRect b="10713"/>
            <a:stretch>
              <a:fillRect/>
            </a:stretch>
          </p:blipFill>
          <p:spPr bwMode="auto">
            <a:xfrm>
              <a:off x="6502400" y="4152900"/>
              <a:ext cx="2057400" cy="635000"/>
            </a:xfrm>
            <a:prstGeom prst="rect">
              <a:avLst/>
            </a:prstGeom>
            <a:noFill/>
            <a:ln w="9525">
              <a:noFill/>
              <a:miter lim="800000"/>
              <a:headEnd/>
              <a:tailEnd/>
            </a:ln>
          </p:spPr>
        </p:pic>
        <p:sp>
          <p:nvSpPr>
            <p:cNvPr id="8" name="Rectangle 7"/>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9" name="Picture 15" descr="logo.jpg"/>
          <p:cNvPicPr>
            <a:picLocks noChangeAspect="1"/>
          </p:cNvPicPr>
          <p:nvPr/>
        </p:nvPicPr>
        <p:blipFill>
          <a:blip r:embed="rId3" cstate="print"/>
          <a:srcRect/>
          <a:stretch>
            <a:fillRect/>
          </a:stretch>
        </p:blipFill>
        <p:spPr bwMode="auto">
          <a:xfrm>
            <a:off x="6553200" y="228600"/>
            <a:ext cx="1920875" cy="609600"/>
          </a:xfrm>
          <a:prstGeom prst="rect">
            <a:avLst/>
          </a:prstGeom>
          <a:noFill/>
          <a:ln w="9525">
            <a:noFill/>
            <a:miter lim="800000"/>
            <a:headEnd/>
            <a:tailEnd/>
          </a:ln>
        </p:spPr>
      </p:pic>
      <p:sp>
        <p:nvSpPr>
          <p:cNvPr id="2" name="Title 1"/>
          <p:cNvSpPr>
            <a:spLocks noGrp="1"/>
          </p:cNvSpPr>
          <p:nvPr>
            <p:ph type="title"/>
          </p:nvPr>
        </p:nvSpPr>
        <p:spPr/>
        <p:txBody>
          <a:bodyPr/>
          <a:lstStyle>
            <a:lvl1pPr>
              <a:defRPr sz="3200">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200">
                <a:latin typeface="Times New Roman" panose="02020603050405020304" pitchFamily="18" charset="0"/>
                <a:cs typeface="Times New Roman" panose="02020603050405020304" pitchFamily="18" charset="0"/>
              </a:defRPr>
            </a:lvl1pPr>
            <a:lvl2pPr>
              <a:defRPr sz="2200">
                <a:latin typeface="Times New Roman" panose="02020603050405020304" pitchFamily="18" charset="0"/>
                <a:cs typeface="Times New Roman" panose="02020603050405020304" pitchFamily="18" charset="0"/>
              </a:defRPr>
            </a:lvl2pPr>
            <a:lvl3pPr>
              <a:defRPr sz="2200">
                <a:latin typeface="Times New Roman" panose="02020603050405020304" pitchFamily="18" charset="0"/>
                <a:cs typeface="Times New Roman" panose="02020603050405020304" pitchFamily="18" charset="0"/>
              </a:defRPr>
            </a:lvl3pPr>
            <a:lvl4pPr>
              <a:defRPr sz="2200">
                <a:latin typeface="Times New Roman" panose="02020603050405020304" pitchFamily="18" charset="0"/>
                <a:cs typeface="Times New Roman" panose="02020603050405020304" pitchFamily="18" charset="0"/>
              </a:defRPr>
            </a:lvl4pPr>
            <a:lvl5pPr>
              <a:defRPr sz="2200">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3"/>
          <p:cNvSpPr>
            <a:spLocks noGrp="1"/>
          </p:cNvSpPr>
          <p:nvPr>
            <p:ph type="dt" sz="half" idx="10"/>
          </p:nvPr>
        </p:nvSpPr>
        <p:spPr/>
        <p:txBody>
          <a:bodyPr/>
          <a:lstStyle>
            <a:lvl1pPr>
              <a:defRPr/>
            </a:lvl1pPr>
          </a:lstStyle>
          <a:p>
            <a:fld id="{1D5BB0C6-8FC1-47C0-B737-D54E21B5B868}" type="datetimeFigureOut">
              <a:rPr lang="en-US" smtClean="0"/>
              <a:pPr/>
              <a:t>11/25/2024</a:t>
            </a:fld>
            <a:endParaRPr lang="en-US"/>
          </a:p>
        </p:txBody>
      </p:sp>
      <p:sp>
        <p:nvSpPr>
          <p:cNvPr id="11" name="Footer Placeholder 4"/>
          <p:cNvSpPr>
            <a:spLocks noGrp="1"/>
          </p:cNvSpPr>
          <p:nvPr>
            <p:ph type="ftr" sz="quarter" idx="11"/>
          </p:nvPr>
        </p:nvSpPr>
        <p:spPr/>
        <p:txBody>
          <a:bodyPr/>
          <a:lstStyle>
            <a:lvl1pPr>
              <a:defRPr/>
            </a:lvl1pPr>
          </a:lstStyle>
          <a:p>
            <a:endParaRPr lang="en-US"/>
          </a:p>
        </p:txBody>
      </p:sp>
      <p:sp>
        <p:nvSpPr>
          <p:cNvPr id="12" name="Slide Number Placeholder 5"/>
          <p:cNvSpPr>
            <a:spLocks noGrp="1"/>
          </p:cNvSpPr>
          <p:nvPr>
            <p:ph type="sldNum" sz="quarter" idx="12"/>
          </p:nvPr>
        </p:nvSpPr>
        <p:spPr/>
        <p:txBody>
          <a:bodyPr/>
          <a:lstStyle>
            <a:lvl1pPr>
              <a:defRPr/>
            </a:lvl1pPr>
          </a:lstStyle>
          <a:p>
            <a:fld id="{0F8887D6-2A35-42AC-99C1-5E14D32EE4CF}" type="slidenum">
              <a:rPr lang="en-US" smtClean="0"/>
              <a:pPr/>
              <a:t>‹#›</a:t>
            </a:fld>
            <a:endParaRPr lang="en-US"/>
          </a:p>
        </p:txBody>
      </p:sp>
    </p:spTree>
  </p:cSld>
  <p:clrMapOvr>
    <a:masterClrMapping/>
  </p:clrMapOvr>
  <p:transition advTm="4000">
    <p:cu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5BB0C6-8FC1-47C0-B737-D54E21B5B868}" type="datetimeFigureOut">
              <a:rPr lang="en-US" smtClean="0"/>
              <a:pPr/>
              <a:t>11/25/2024</a:t>
            </a:fld>
            <a:endParaRPr lang="en-US"/>
          </a:p>
        </p:txBody>
      </p:sp>
      <p:sp>
        <p:nvSpPr>
          <p:cNvPr id="24" name="Footer Placeholder 23"/>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8887D6-2A35-42AC-99C1-5E14D32EE4CF}" type="slidenum">
              <a:rPr lang="en-US" smtClean="0"/>
              <a:pPr/>
              <a:t>‹#›</a:t>
            </a:fld>
            <a:endParaRPr lang="en-US"/>
          </a:p>
        </p:txBody>
      </p:sp>
    </p:spTree>
  </p:cSld>
  <p:clrMapOvr>
    <a:masterClrMapping/>
  </p:clrMapOvr>
  <p:transition advTm="4000">
    <p:cut/>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0" y="0"/>
            <a:ext cx="64770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3716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b="1">
                <a:solidFill>
                  <a:srgbClr val="0070C0"/>
                </a:solidFill>
                <a:latin typeface="Times New Roman" pitchFamily="18" charset="0"/>
                <a:cs typeface="Times New Roman" pitchFamily="18" charset="0"/>
              </a:defRPr>
            </a:lvl1pPr>
          </a:lstStyle>
          <a:p>
            <a:fld id="{1D5BB0C6-8FC1-47C0-B737-D54E21B5B868}" type="datetimeFigureOut">
              <a:rPr lang="en-US" smtClean="0"/>
              <a:pPr/>
              <a:t>11/25/2024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b="1">
                <a:solidFill>
                  <a:srgbClr val="0070C0"/>
                </a:solidFill>
                <a:latin typeface="Times New Roman" pitchFamily="18" charset="0"/>
                <a:ea typeface="ＭＳ Ｐゴシック" charset="-128"/>
                <a:cs typeface="Times New Roman" pitchFamily="18"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b="1">
                <a:solidFill>
                  <a:srgbClr val="0070C0"/>
                </a:solidFill>
                <a:latin typeface="Times New Roman" pitchFamily="18" charset="0"/>
                <a:cs typeface="Times New Roman" pitchFamily="18" charset="0"/>
              </a:defRPr>
            </a:lvl1pPr>
          </a:lstStyle>
          <a:p>
            <a:fld id="{0F8887D6-2A35-42AC-99C1-5E14D32EE4CF}" type="slidenum">
              <a:rPr lang="en-US" smtClean="0"/>
              <a:pPr/>
              <a:t>‹#›</a:t>
            </a:fld>
            <a:endParaRPr lang="en-US"/>
          </a:p>
        </p:txBody>
      </p:sp>
      <p:sp>
        <p:nvSpPr>
          <p:cNvPr id="1031" name="Rectangle 11"/>
          <p:cNvSpPr>
            <a:spLocks noChangeArrowheads="1"/>
          </p:cNvSpPr>
          <p:nvPr/>
        </p:nvSpPr>
        <p:spPr bwMode="auto">
          <a:xfrm>
            <a:off x="0" y="0"/>
            <a:ext cx="91440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sp>
        <p:nvSpPr>
          <p:cNvPr id="8" name="Rectangle 11"/>
          <p:cNvSpPr>
            <a:spLocks noChangeArrowheads="1"/>
          </p:cNvSpPr>
          <p:nvPr/>
        </p:nvSpPr>
        <p:spPr bwMode="auto">
          <a:xfrm flipV="1">
            <a:off x="0" y="6705600"/>
            <a:ext cx="9144000" cy="198116"/>
          </a:xfrm>
          <a:prstGeom prst="rect">
            <a:avLst/>
          </a:prstGeom>
          <a:solidFill>
            <a:srgbClr val="FF0000"/>
          </a:solidFill>
          <a:ln w="9525">
            <a:noFill/>
            <a:miter lim="800000"/>
            <a:headEnd/>
            <a:tailEnd/>
          </a:ln>
          <a:effectLst/>
          <a:scene3d>
            <a:camera prst="orthographicFront"/>
            <a:lightRig rig="threePt" dir="t"/>
          </a:scene3d>
          <a:sp3d>
            <a:bevelB/>
          </a:sp3d>
        </p:spPr>
        <p:txBody>
          <a:bodyPr wrap="none" anchor="ctr"/>
          <a:lstStyle/>
          <a:p>
            <a:pPr>
              <a:defRPr/>
            </a:pPr>
            <a:endParaRPr lang="en-US">
              <a:latin typeface="Calibri" charset="0"/>
              <a:ea typeface="ＭＳ Ｐゴシック" charset="-128"/>
            </a:endParaRPr>
          </a:p>
        </p:txBody>
      </p:sp>
      <p:pic>
        <p:nvPicPr>
          <p:cNvPr id="1035" name="Picture 10" descr="LOGO.gif"/>
          <p:cNvPicPr>
            <a:picLocks noChangeAspect="1"/>
          </p:cNvPicPr>
          <p:nvPr/>
        </p:nvPicPr>
        <p:blipFill>
          <a:blip r:embed="rId5" cstate="print"/>
          <a:srcRect b="10713"/>
          <a:stretch>
            <a:fillRect/>
          </a:stretch>
        </p:blipFill>
        <p:spPr bwMode="auto">
          <a:xfrm>
            <a:off x="6553200" y="228600"/>
            <a:ext cx="2057400" cy="635000"/>
          </a:xfrm>
          <a:prstGeom prst="rect">
            <a:avLst/>
          </a:prstGeom>
          <a:noFill/>
          <a:ln w="9525">
            <a:noFill/>
            <a:miter lim="800000"/>
            <a:headEnd/>
            <a:tailEnd/>
          </a:ln>
        </p:spPr>
      </p:pic>
      <p:pic>
        <p:nvPicPr>
          <p:cNvPr id="1036" name="Picture 10" descr="LOGO.gif"/>
          <p:cNvPicPr>
            <a:picLocks noChangeAspect="1"/>
          </p:cNvPicPr>
          <p:nvPr/>
        </p:nvPicPr>
        <p:blipFill>
          <a:blip r:embed="rId5"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2" name="Group 7"/>
          <p:cNvGrpSpPr>
            <a:grpSpLocks/>
          </p:cNvGrpSpPr>
          <p:nvPr/>
        </p:nvGrpSpPr>
        <p:grpSpPr bwMode="auto">
          <a:xfrm>
            <a:off x="6146800" y="0"/>
            <a:ext cx="2997200" cy="876300"/>
            <a:chOff x="6096000" y="3924300"/>
            <a:chExt cx="2997200" cy="876300"/>
          </a:xfrm>
        </p:grpSpPr>
        <p:sp>
          <p:nvSpPr>
            <p:cNvPr id="1039"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1040" name="Picture 9" descr="LOGO.gif"/>
            <p:cNvPicPr>
              <a:picLocks noChangeAspect="1"/>
            </p:cNvPicPr>
            <p:nvPr/>
          </p:nvPicPr>
          <p:blipFill>
            <a:blip r:embed="rId5" cstate="print"/>
            <a:srcRect b="10713"/>
            <a:stretch>
              <a:fillRect/>
            </a:stretch>
          </p:blipFill>
          <p:spPr bwMode="auto">
            <a:xfrm>
              <a:off x="6502400" y="4152900"/>
              <a:ext cx="2057400" cy="635000"/>
            </a:xfrm>
            <a:prstGeom prst="rect">
              <a:avLst/>
            </a:prstGeom>
            <a:noFill/>
            <a:ln w="9525">
              <a:noFill/>
              <a:miter lim="800000"/>
              <a:headEnd/>
              <a:tailEnd/>
            </a:ln>
          </p:spPr>
        </p:pic>
        <p:sp>
          <p:nvSpPr>
            <p:cNvPr id="19" name="Rectangle 18"/>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1038" name="Picture 15" descr="logo.jpg"/>
          <p:cNvPicPr>
            <a:picLocks noChangeAspect="1"/>
          </p:cNvPicPr>
          <p:nvPr/>
        </p:nvPicPr>
        <p:blipFill>
          <a:blip r:embed="rId6" cstate="print"/>
          <a:srcRect/>
          <a:stretch>
            <a:fillRect/>
          </a:stretch>
        </p:blipFill>
        <p:spPr bwMode="auto">
          <a:xfrm>
            <a:off x="6553200" y="228600"/>
            <a:ext cx="1920875" cy="6096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Lst>
  <p:transition advTm="4000">
    <p:cut/>
  </p:transition>
  <p:txStyles>
    <p:titleStyle>
      <a:lvl1pPr algn="ctr" rtl="0" eaLnBrk="1" fontAlgn="base" hangingPunct="1">
        <a:spcBef>
          <a:spcPct val="0"/>
        </a:spcBef>
        <a:spcAft>
          <a:spcPct val="0"/>
        </a:spcAft>
        <a:defRPr sz="3000" kern="1200">
          <a:solidFill>
            <a:schemeClr val="tx1"/>
          </a:solidFill>
          <a:latin typeface="+mj-lt"/>
          <a:ea typeface="MS PGothic"/>
          <a:cs typeface="MS PGothic"/>
        </a:defRPr>
      </a:lvl1pPr>
      <a:lvl2pPr algn="ctr" rtl="0" eaLnBrk="1" fontAlgn="base" hangingPunct="1">
        <a:spcBef>
          <a:spcPct val="0"/>
        </a:spcBef>
        <a:spcAft>
          <a:spcPct val="0"/>
        </a:spcAft>
        <a:defRPr sz="3000">
          <a:solidFill>
            <a:schemeClr val="tx1"/>
          </a:solidFill>
          <a:latin typeface="Calibri" charset="0"/>
          <a:ea typeface="MS PGothic"/>
          <a:cs typeface="MS PGothic"/>
        </a:defRPr>
      </a:lvl2pPr>
      <a:lvl3pPr algn="ctr" rtl="0" eaLnBrk="1" fontAlgn="base" hangingPunct="1">
        <a:spcBef>
          <a:spcPct val="0"/>
        </a:spcBef>
        <a:spcAft>
          <a:spcPct val="0"/>
        </a:spcAft>
        <a:defRPr sz="3000">
          <a:solidFill>
            <a:schemeClr val="tx1"/>
          </a:solidFill>
          <a:latin typeface="Calibri" charset="0"/>
          <a:ea typeface="MS PGothic"/>
          <a:cs typeface="MS PGothic"/>
        </a:defRPr>
      </a:lvl3pPr>
      <a:lvl4pPr algn="ctr" rtl="0" eaLnBrk="1" fontAlgn="base" hangingPunct="1">
        <a:spcBef>
          <a:spcPct val="0"/>
        </a:spcBef>
        <a:spcAft>
          <a:spcPct val="0"/>
        </a:spcAft>
        <a:defRPr sz="3000">
          <a:solidFill>
            <a:schemeClr val="tx1"/>
          </a:solidFill>
          <a:latin typeface="Calibri" charset="0"/>
          <a:ea typeface="MS PGothic"/>
          <a:cs typeface="MS PGothic"/>
        </a:defRPr>
      </a:lvl4pPr>
      <a:lvl5pPr algn="ctr" rtl="0" eaLnBrk="1" fontAlgn="base" hangingPunct="1">
        <a:spcBef>
          <a:spcPct val="0"/>
        </a:spcBef>
        <a:spcAft>
          <a:spcPct val="0"/>
        </a:spcAft>
        <a:defRPr sz="3000">
          <a:solidFill>
            <a:schemeClr val="tx1"/>
          </a:solidFill>
          <a:latin typeface="Calibri" charset="0"/>
          <a:ea typeface="MS PGothic"/>
          <a:cs typeface="MS PGothic"/>
        </a:defRPr>
      </a:lvl5pPr>
      <a:lvl6pPr marL="457200" algn="ctr" rtl="0" eaLnBrk="1" fontAlgn="base" hangingPunct="1">
        <a:spcBef>
          <a:spcPct val="0"/>
        </a:spcBef>
        <a:spcAft>
          <a:spcPct val="0"/>
        </a:spcAft>
        <a:defRPr sz="3000">
          <a:solidFill>
            <a:schemeClr val="tx1"/>
          </a:solidFill>
          <a:latin typeface="Calibri" charset="0"/>
          <a:ea typeface="ＭＳ Ｐゴシック" charset="-128"/>
        </a:defRPr>
      </a:lvl6pPr>
      <a:lvl7pPr marL="914400" algn="ctr" rtl="0" eaLnBrk="1" fontAlgn="base" hangingPunct="1">
        <a:spcBef>
          <a:spcPct val="0"/>
        </a:spcBef>
        <a:spcAft>
          <a:spcPct val="0"/>
        </a:spcAft>
        <a:defRPr sz="3000">
          <a:solidFill>
            <a:schemeClr val="tx1"/>
          </a:solidFill>
          <a:latin typeface="Calibri" charset="0"/>
          <a:ea typeface="ＭＳ Ｐゴシック" charset="-128"/>
        </a:defRPr>
      </a:lvl7pPr>
      <a:lvl8pPr marL="1371600" algn="ctr" rtl="0" eaLnBrk="1" fontAlgn="base" hangingPunct="1">
        <a:spcBef>
          <a:spcPct val="0"/>
        </a:spcBef>
        <a:spcAft>
          <a:spcPct val="0"/>
        </a:spcAft>
        <a:defRPr sz="3000">
          <a:solidFill>
            <a:schemeClr val="tx1"/>
          </a:solidFill>
          <a:latin typeface="Calibri" charset="0"/>
          <a:ea typeface="ＭＳ Ｐゴシック" charset="-128"/>
        </a:defRPr>
      </a:lvl8pPr>
      <a:lvl9pPr marL="1828800" algn="ctr" rtl="0" eaLnBrk="1" fontAlgn="base" hangingPunct="1">
        <a:spcBef>
          <a:spcPct val="0"/>
        </a:spcBef>
        <a:spcAft>
          <a:spcPct val="0"/>
        </a:spcAft>
        <a:defRPr sz="3000">
          <a:solidFill>
            <a:schemeClr val="tx1"/>
          </a:solidFill>
          <a:latin typeface="Calibri" charset="0"/>
          <a:ea typeface="ＭＳ Ｐゴシック" charset="-128"/>
        </a:defRPr>
      </a:lvl9pPr>
    </p:titleStyle>
    <p:body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S PGothic"/>
          <a:cs typeface="MS PGothic"/>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S PGothic"/>
          <a:cs typeface="MS PGothic"/>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S PGothic"/>
          <a:cs typeface="MS PGothic"/>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43608" y="1628800"/>
            <a:ext cx="6624736" cy="1200329"/>
          </a:xfrm>
          <a:prstGeom prst="rect">
            <a:avLst/>
          </a:prstGeom>
          <a:noFill/>
        </p:spPr>
        <p:txBody>
          <a:bodyPr wrap="square" rtlCol="0">
            <a:spAutoFit/>
          </a:bodyPr>
          <a:lstStyle/>
          <a:p>
            <a:pPr algn="ctr"/>
            <a:r>
              <a:rPr lang="en-US" sz="3600" dirty="0">
                <a:solidFill>
                  <a:srgbClr val="FF0000"/>
                </a:solidFill>
                <a:latin typeface="Arial Black" pitchFamily="34" charset="0"/>
              </a:rPr>
              <a:t>Front End Engineering-I Project</a:t>
            </a:r>
          </a:p>
        </p:txBody>
      </p:sp>
      <p:sp>
        <p:nvSpPr>
          <p:cNvPr id="5" name="TextBox 4"/>
          <p:cNvSpPr txBox="1"/>
          <p:nvPr/>
        </p:nvSpPr>
        <p:spPr>
          <a:xfrm>
            <a:off x="3275856" y="4653136"/>
            <a:ext cx="255198" cy="954107"/>
          </a:xfrm>
          <a:prstGeom prst="rect">
            <a:avLst/>
          </a:prstGeom>
          <a:noFill/>
        </p:spPr>
        <p:txBody>
          <a:bodyPr wrap="none" rtlCol="0">
            <a:spAutoFit/>
          </a:bodyPr>
          <a:lstStyle/>
          <a:p>
            <a:r>
              <a:rPr lang="en-US" sz="2000" dirty="0">
                <a:latin typeface="Times New Roman" pitchFamily="18" charset="0"/>
                <a:cs typeface="Times New Roman" pitchFamily="18" charset="0"/>
              </a:rPr>
              <a:t>:</a:t>
            </a:r>
          </a:p>
          <a:p>
            <a:endParaRPr lang="en-US" dirty="0"/>
          </a:p>
          <a:p>
            <a:endParaRPr lang="en-US" dirty="0"/>
          </a:p>
        </p:txBody>
      </p:sp>
      <p:sp>
        <p:nvSpPr>
          <p:cNvPr id="6" name="TextBox 5">
            <a:extLst>
              <a:ext uri="{FF2B5EF4-FFF2-40B4-BE49-F238E27FC236}">
                <a16:creationId xmlns:a16="http://schemas.microsoft.com/office/drawing/2014/main" id="{39596CC0-0544-9FD2-7AFD-B23ECB7AE8F4}"/>
              </a:ext>
            </a:extLst>
          </p:cNvPr>
          <p:cNvSpPr txBox="1"/>
          <p:nvPr/>
        </p:nvSpPr>
        <p:spPr>
          <a:xfrm>
            <a:off x="2195736" y="2829129"/>
            <a:ext cx="5112568" cy="2800767"/>
          </a:xfrm>
          <a:prstGeom prst="rect">
            <a:avLst/>
          </a:prstGeom>
          <a:solidFill>
            <a:schemeClr val="accent6">
              <a:lumMod val="60000"/>
              <a:lumOff val="40000"/>
            </a:schemeClr>
          </a:solidFill>
        </p:spPr>
        <p:txBody>
          <a:bodyPr wrap="square" rtlCol="0">
            <a:spAutoFit/>
          </a:bodyPr>
          <a:lstStyle/>
          <a:p>
            <a:r>
              <a:rPr lang="en-US" sz="2000" dirty="0"/>
              <a:t>Team Details:</a:t>
            </a:r>
          </a:p>
          <a:p>
            <a:r>
              <a:rPr lang="en-US" sz="2000" dirty="0" err="1"/>
              <a:t>Krish</a:t>
            </a:r>
            <a:r>
              <a:rPr lang="en-US" sz="2000" dirty="0"/>
              <a:t> Garg 2410992948</a:t>
            </a:r>
          </a:p>
          <a:p>
            <a:r>
              <a:rPr lang="en-US" sz="2000" dirty="0"/>
              <a:t>Hitesh Gautam 2410992928</a:t>
            </a:r>
          </a:p>
          <a:p>
            <a:r>
              <a:rPr lang="en-US" sz="2000" dirty="0"/>
              <a:t>Kanika 2410992932</a:t>
            </a:r>
          </a:p>
          <a:p>
            <a:endParaRPr lang="en-US" sz="2000" dirty="0"/>
          </a:p>
          <a:p>
            <a:endParaRPr lang="en-US" dirty="0">
              <a:solidFill>
                <a:schemeClr val="bg1"/>
              </a:solidFill>
            </a:endParaRPr>
          </a:p>
          <a:p>
            <a:r>
              <a:rPr lang="en-US" sz="2000" dirty="0">
                <a:latin typeface="Times New Roman" pitchFamily="18" charset="0"/>
                <a:cs typeface="Times New Roman" pitchFamily="18" charset="0"/>
              </a:rPr>
              <a:t>Faculty Coordinator:</a:t>
            </a:r>
          </a:p>
          <a:p>
            <a:r>
              <a:rPr lang="en-US" sz="2000" dirty="0" err="1">
                <a:latin typeface="Times New Roman" pitchFamily="18" charset="0"/>
                <a:cs typeface="Times New Roman" pitchFamily="18" charset="0"/>
              </a:rPr>
              <a:t>Mr</a:t>
            </a:r>
            <a:r>
              <a:rPr lang="en-US" sz="2000" dirty="0">
                <a:solidFill>
                  <a:schemeClr val="bg1"/>
                </a:solidFill>
                <a:latin typeface="Times New Roman" pitchFamily="18" charset="0"/>
                <a:cs typeface="Times New Roman" pitchFamily="18" charset="0"/>
              </a:rPr>
              <a:t> </a:t>
            </a:r>
            <a:r>
              <a:rPr lang="en-US" sz="2000" dirty="0">
                <a:latin typeface="Times New Roman" pitchFamily="18" charset="0"/>
                <a:cs typeface="Times New Roman" pitchFamily="18" charset="0"/>
              </a:rPr>
              <a:t>Rahul</a:t>
            </a:r>
            <a:r>
              <a:rPr lang="en-US" sz="2000" dirty="0">
                <a:solidFill>
                  <a:schemeClr val="bg1"/>
                </a:solidFill>
                <a:latin typeface="Times New Roman" pitchFamily="18" charset="0"/>
                <a:cs typeface="Times New Roman" pitchFamily="18" charset="0"/>
              </a:rPr>
              <a:t> </a:t>
            </a:r>
            <a:r>
              <a:rPr lang="en-US" sz="2000" dirty="0" err="1">
                <a:latin typeface="Times New Roman" pitchFamily="18" charset="0"/>
                <a:cs typeface="Times New Roman" pitchFamily="18" charset="0"/>
              </a:rPr>
              <a:t>Rajeevan</a:t>
            </a:r>
            <a:endParaRPr lang="en-US" dirty="0"/>
          </a:p>
          <a:p>
            <a:endParaRPr lang="en-US" dirty="0">
              <a:solidFill>
                <a:schemeClr val="bg1"/>
              </a:solidFill>
            </a:endParaRPr>
          </a:p>
        </p:txBody>
      </p:sp>
      <p:sp>
        <p:nvSpPr>
          <p:cNvPr id="9" name="TextBox 8"/>
          <p:cNvSpPr txBox="1"/>
          <p:nvPr/>
        </p:nvSpPr>
        <p:spPr>
          <a:xfrm>
            <a:off x="1187624" y="5661248"/>
            <a:ext cx="6947095" cy="707886"/>
          </a:xfrm>
          <a:prstGeom prst="rect">
            <a:avLst/>
          </a:prstGeom>
          <a:noFill/>
        </p:spPr>
        <p:txBody>
          <a:bodyPr wrap="none" rtlCol="0">
            <a:spAutoFit/>
          </a:bodyPr>
          <a:lstStyle/>
          <a:p>
            <a:r>
              <a:rPr lang="en-US" sz="2000" b="1" dirty="0" err="1">
                <a:solidFill>
                  <a:srgbClr val="FF0000"/>
                </a:solidFill>
                <a:latin typeface="Times New Roman" pitchFamily="18" charset="0"/>
                <a:cs typeface="Times New Roman" pitchFamily="18" charset="0"/>
              </a:rPr>
              <a:t>Chitkara</a:t>
            </a:r>
            <a:r>
              <a:rPr lang="en-US" sz="2000" b="1" dirty="0">
                <a:solidFill>
                  <a:srgbClr val="FF0000"/>
                </a:solidFill>
                <a:latin typeface="Times New Roman" pitchFamily="18" charset="0"/>
                <a:cs typeface="Times New Roman" pitchFamily="18" charset="0"/>
              </a:rPr>
              <a:t> University Institute of Engineering and Technology, </a:t>
            </a:r>
          </a:p>
          <a:p>
            <a:pPr algn="ctr"/>
            <a:r>
              <a:rPr lang="en-US" sz="2000" b="1" dirty="0" err="1">
                <a:solidFill>
                  <a:srgbClr val="FF0000"/>
                </a:solidFill>
                <a:latin typeface="Times New Roman" pitchFamily="18" charset="0"/>
                <a:cs typeface="Times New Roman" pitchFamily="18" charset="0"/>
              </a:rPr>
              <a:t>Chitkara</a:t>
            </a:r>
            <a:r>
              <a:rPr lang="en-US" sz="2000" b="1" dirty="0">
                <a:solidFill>
                  <a:srgbClr val="FF0000"/>
                </a:solidFill>
                <a:latin typeface="Times New Roman" pitchFamily="18" charset="0"/>
                <a:cs typeface="Times New Roman" pitchFamily="18" charset="0"/>
              </a:rPr>
              <a:t> University, Punjab</a:t>
            </a:r>
          </a:p>
        </p:txBody>
      </p:sp>
    </p:spTree>
  </p:cSld>
  <p:clrMapOvr>
    <a:masterClrMapping/>
  </p:clrMapOvr>
  <p:transition advTm="4000">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b="1" dirty="0">
                <a:latin typeface="Times New Roman" pitchFamily="18" charset="0"/>
                <a:cs typeface="Times New Roman" pitchFamily="18" charset="0"/>
              </a:rPr>
              <a:t>Table of Contents</a:t>
            </a:r>
            <a:endParaRPr lang="en-US" b="1" dirty="0">
              <a:latin typeface="Times New Roman" pitchFamily="18" charset="0"/>
              <a:cs typeface="Times New Roman" pitchFamily="18" charset="0"/>
            </a:endParaRPr>
          </a:p>
        </p:txBody>
      </p:sp>
      <p:sp>
        <p:nvSpPr>
          <p:cNvPr id="3" name="TextBox 2"/>
          <p:cNvSpPr txBox="1"/>
          <p:nvPr/>
        </p:nvSpPr>
        <p:spPr>
          <a:xfrm>
            <a:off x="323528" y="980728"/>
            <a:ext cx="6912768" cy="5401479"/>
          </a:xfrm>
          <a:prstGeom prst="rect">
            <a:avLst/>
          </a:prstGeom>
          <a:noFill/>
        </p:spPr>
        <p:txBody>
          <a:bodyPr wrap="square" rtlCol="0">
            <a:spAutoFit/>
          </a:bodyPr>
          <a:lstStyle/>
          <a:p>
            <a:pPr marL="457200" indent="-457200">
              <a:buFont typeface="Arial" panose="020B0604020202020204" pitchFamily="34" charset="0"/>
              <a:buChar char="•"/>
            </a:pPr>
            <a:r>
              <a:rPr lang="en-US" sz="2300" dirty="0">
                <a:latin typeface="Times New Roman" pitchFamily="18" charset="0"/>
                <a:cs typeface="Times New Roman" pitchFamily="18" charset="0"/>
              </a:rPr>
              <a:t>Introduction</a:t>
            </a:r>
          </a:p>
          <a:p>
            <a:pPr marL="457200" indent="-457200">
              <a:buFont typeface="Arial" panose="020B0604020202020204" pitchFamily="34" charset="0"/>
              <a:buChar char="•"/>
            </a:pPr>
            <a:endParaRPr lang="en-US" sz="2300" dirty="0">
              <a:latin typeface="Times New Roman" pitchFamily="18" charset="0"/>
              <a:cs typeface="Times New Roman" pitchFamily="18" charset="0"/>
            </a:endParaRPr>
          </a:p>
          <a:p>
            <a:pPr marL="457200" indent="-457200">
              <a:buFont typeface="Arial" panose="020B0604020202020204" pitchFamily="34" charset="0"/>
              <a:buChar char="•"/>
            </a:pPr>
            <a:r>
              <a:rPr lang="en-US" sz="2300" dirty="0">
                <a:latin typeface="Times New Roman" pitchFamily="18" charset="0"/>
                <a:cs typeface="Times New Roman" pitchFamily="18" charset="0"/>
              </a:rPr>
              <a:t>Problem Statement</a:t>
            </a:r>
          </a:p>
          <a:p>
            <a:endParaRPr lang="en-US" sz="2300" dirty="0">
              <a:latin typeface="Times New Roman" pitchFamily="18" charset="0"/>
              <a:cs typeface="Times New Roman" pitchFamily="18" charset="0"/>
            </a:endParaRPr>
          </a:p>
          <a:p>
            <a:pPr marL="457200" indent="-457200">
              <a:buFont typeface="Arial" panose="020B0604020202020204" pitchFamily="34" charset="0"/>
              <a:buChar char="•"/>
            </a:pPr>
            <a:r>
              <a:rPr lang="en-US" sz="2300" dirty="0">
                <a:latin typeface="Times New Roman" pitchFamily="18" charset="0"/>
                <a:cs typeface="Times New Roman" pitchFamily="18" charset="0"/>
              </a:rPr>
              <a:t>Technical Details</a:t>
            </a:r>
          </a:p>
          <a:p>
            <a:endParaRPr lang="en-US" sz="2300" dirty="0">
              <a:latin typeface="Times New Roman" pitchFamily="18" charset="0"/>
              <a:cs typeface="Times New Roman" pitchFamily="18" charset="0"/>
            </a:endParaRPr>
          </a:p>
          <a:p>
            <a:pPr marL="457200" indent="-457200">
              <a:buFont typeface="Arial" panose="020B0604020202020204" pitchFamily="34" charset="0"/>
              <a:buChar char="•"/>
            </a:pPr>
            <a:r>
              <a:rPr lang="en-US" sz="2300" dirty="0">
                <a:latin typeface="Times New Roman" pitchFamily="18" charset="0"/>
                <a:cs typeface="Times New Roman" pitchFamily="18" charset="0"/>
              </a:rPr>
              <a:t>Key Features</a:t>
            </a:r>
          </a:p>
          <a:p>
            <a:r>
              <a:rPr lang="en-US" sz="2300" dirty="0">
                <a:latin typeface="Times New Roman" pitchFamily="18" charset="0"/>
                <a:cs typeface="Times New Roman" pitchFamily="18" charset="0"/>
              </a:rPr>
              <a:t> </a:t>
            </a:r>
          </a:p>
          <a:p>
            <a:pPr marL="457200" indent="-457200">
              <a:buFont typeface="Arial" panose="020B0604020202020204" pitchFamily="34" charset="0"/>
              <a:buChar char="•"/>
            </a:pPr>
            <a:r>
              <a:rPr lang="en-US" sz="2300" dirty="0">
                <a:latin typeface="Times New Roman" pitchFamily="18" charset="0"/>
                <a:cs typeface="Times New Roman" pitchFamily="18" charset="0"/>
              </a:rPr>
              <a:t>Project Highlights</a:t>
            </a:r>
          </a:p>
          <a:p>
            <a:endParaRPr lang="en-US" sz="2300" dirty="0">
              <a:latin typeface="Times New Roman" pitchFamily="18" charset="0"/>
              <a:cs typeface="Times New Roman" pitchFamily="18" charset="0"/>
            </a:endParaRPr>
          </a:p>
          <a:p>
            <a:pPr marL="457200" indent="-457200">
              <a:buFont typeface="Arial" panose="020B0604020202020204" pitchFamily="34" charset="0"/>
              <a:buChar char="•"/>
            </a:pPr>
            <a:r>
              <a:rPr lang="en-US" sz="2300" dirty="0">
                <a:latin typeface="Times New Roman" pitchFamily="18" charset="0"/>
                <a:cs typeface="Times New Roman" pitchFamily="18" charset="0"/>
              </a:rPr>
              <a:t>Conclusion</a:t>
            </a:r>
          </a:p>
          <a:p>
            <a:endParaRPr lang="en-US" sz="2300" dirty="0">
              <a:latin typeface="Times New Roman" pitchFamily="18" charset="0"/>
              <a:cs typeface="Times New Roman" pitchFamily="18" charset="0"/>
            </a:endParaRPr>
          </a:p>
          <a:p>
            <a:pPr marL="457200" indent="-457200">
              <a:buFont typeface="Arial" panose="020B0604020202020204" pitchFamily="34" charset="0"/>
              <a:buChar char="•"/>
            </a:pPr>
            <a:r>
              <a:rPr lang="en-US" sz="2300" dirty="0">
                <a:latin typeface="Times New Roman" pitchFamily="18" charset="0"/>
                <a:cs typeface="Times New Roman" pitchFamily="18" charset="0"/>
              </a:rPr>
              <a:t>References/Links used</a:t>
            </a:r>
          </a:p>
          <a:p>
            <a:pPr marL="457200" indent="-457200">
              <a:buFont typeface="Arial" panose="020B0604020202020204" pitchFamily="34" charset="0"/>
              <a:buChar char="•"/>
            </a:pPr>
            <a:endParaRPr lang="en-US" sz="2300" dirty="0">
              <a:latin typeface="Times New Roman" pitchFamily="18" charset="0"/>
              <a:cs typeface="Times New Roman" pitchFamily="18" charset="0"/>
            </a:endParaRPr>
          </a:p>
          <a:p>
            <a:pPr marL="457200" indent="-457200">
              <a:buFont typeface="Arial" panose="020B0604020202020204" pitchFamily="34" charset="0"/>
              <a:buChar char="•"/>
            </a:pPr>
            <a:endParaRPr lang="en-US" sz="2300" dirty="0">
              <a:latin typeface="Times New Roman" pitchFamily="18" charset="0"/>
              <a:cs typeface="Times New Roman" pitchFamily="18" charset="0"/>
            </a:endParaRPr>
          </a:p>
        </p:txBody>
      </p:sp>
    </p:spTree>
  </p:cSld>
  <p:clrMapOvr>
    <a:masterClrMapping/>
  </p:clrMapOvr>
  <p:transition advTm="4000">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Introduction</a:t>
            </a:r>
          </a:p>
        </p:txBody>
      </p:sp>
      <p:sp>
        <p:nvSpPr>
          <p:cNvPr id="3" name="Rectangle 2"/>
          <p:cNvSpPr/>
          <p:nvPr/>
        </p:nvSpPr>
        <p:spPr>
          <a:xfrm>
            <a:off x="395536" y="1196752"/>
            <a:ext cx="8136904" cy="5016758"/>
          </a:xfrm>
          <a:prstGeom prst="rect">
            <a:avLst/>
          </a:prstGeom>
        </p:spPr>
        <p:txBody>
          <a:bodyPr wrap="square">
            <a:spAutoFit/>
          </a:bodyPr>
          <a:lstStyle/>
          <a:p>
            <a:r>
              <a:rPr lang="en-US" sz="3200" dirty="0"/>
              <a:t>Text Track is an innovative test management platform that empowers users to create, administer, and manage access to multiple tests efficiently. Designed for educational institutions, corporate training programs, and online learning environments, Text Track simplifies the entire process of test administration, from building tests to delivering results and analytics.  </a:t>
            </a:r>
          </a:p>
          <a:p>
            <a:endParaRPr lang="en-US" sz="3200" dirty="0">
              <a:latin typeface="Times New Roman" pitchFamily="18" charset="0"/>
              <a:cs typeface="Times New Roman" pitchFamily="18" charset="0"/>
            </a:endParaRPr>
          </a:p>
        </p:txBody>
      </p:sp>
    </p:spTree>
  </p:cSld>
  <p:clrMapOvr>
    <a:masterClrMapping/>
  </p:clrMapOvr>
  <p:transition advTm="4000">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Problem Statement</a:t>
            </a:r>
          </a:p>
        </p:txBody>
      </p:sp>
      <p:sp>
        <p:nvSpPr>
          <p:cNvPr id="3" name="Rectangle 2"/>
          <p:cNvSpPr/>
          <p:nvPr/>
        </p:nvSpPr>
        <p:spPr>
          <a:xfrm>
            <a:off x="395536" y="1196752"/>
            <a:ext cx="8136904" cy="5016758"/>
          </a:xfrm>
          <a:prstGeom prst="rect">
            <a:avLst/>
          </a:prstGeom>
        </p:spPr>
        <p:txBody>
          <a:bodyPr wrap="square">
            <a:spAutoFit/>
          </a:bodyPr>
          <a:lstStyle/>
          <a:p>
            <a:r>
              <a:rPr lang="en-US" sz="3200" dirty="0"/>
              <a:t>In today’s educational and corporate environments, the process of creating, administering, and managing multiple tests can be complex, time-consuming, and prone to human error. Traditional methods of test administration often lack scalability, real-time monitoring, and centralized management, resulting in inefficiencies for educators, trainers, and administrators.</a:t>
            </a:r>
            <a:endParaRPr lang="en-IN" sz="3200" dirty="0"/>
          </a:p>
          <a:p>
            <a:endParaRPr lang="en-US" sz="3200" dirty="0">
              <a:latin typeface="Times New Roman" pitchFamily="18" charset="0"/>
              <a:cs typeface="Times New Roman" pitchFamily="18" charset="0"/>
            </a:endParaRPr>
          </a:p>
        </p:txBody>
      </p:sp>
    </p:spTree>
  </p:cSld>
  <p:clrMapOvr>
    <a:masterClrMapping/>
  </p:clrMapOvr>
  <p:transition advTm="4000">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Technical Details</a:t>
            </a:r>
          </a:p>
        </p:txBody>
      </p:sp>
      <p:sp>
        <p:nvSpPr>
          <p:cNvPr id="3" name="Rectangle 2"/>
          <p:cNvSpPr/>
          <p:nvPr/>
        </p:nvSpPr>
        <p:spPr>
          <a:xfrm>
            <a:off x="395536" y="1196752"/>
            <a:ext cx="8136904" cy="584775"/>
          </a:xfrm>
          <a:prstGeom prst="rect">
            <a:avLst/>
          </a:prstGeom>
        </p:spPr>
        <p:txBody>
          <a:bodyPr wrap="square">
            <a:spAutoFit/>
          </a:bodyPr>
          <a:lstStyle/>
          <a:p>
            <a:endParaRPr lang="en-US" sz="3200" dirty="0">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BCFF0EAA-9FBF-4608-B14F-640F3E54FF6B}"/>
              </a:ext>
            </a:extLst>
          </p:cNvPr>
          <p:cNvSpPr txBox="1"/>
          <p:nvPr/>
        </p:nvSpPr>
        <p:spPr>
          <a:xfrm flipH="1">
            <a:off x="323528" y="1196752"/>
            <a:ext cx="8496944" cy="4247317"/>
          </a:xfrm>
          <a:prstGeom prst="rect">
            <a:avLst/>
          </a:prstGeom>
          <a:noFill/>
        </p:spPr>
        <p:txBody>
          <a:bodyPr wrap="square" rtlCol="0">
            <a:spAutoFit/>
          </a:bodyPr>
          <a:lstStyle/>
          <a:p>
            <a:r>
              <a:rPr lang="en-US" b="1" u="sng" dirty="0"/>
              <a:t>HTML</a:t>
            </a:r>
          </a:p>
          <a:p>
            <a:r>
              <a:rPr lang="en-US" dirty="0"/>
              <a:t>HTML (Hyper Text Markup Language) is the standard language used to create and structure </a:t>
            </a:r>
          </a:p>
          <a:p>
            <a:r>
              <a:rPr lang="en-US" dirty="0"/>
              <a:t>content on the web. HTML defines the structure and layout of a web page by using a series of </a:t>
            </a:r>
          </a:p>
          <a:p>
            <a:r>
              <a:rPr lang="en-US" dirty="0"/>
              <a:t>elements or tags that wrap different parts of the content to display text, images, links, tables, </a:t>
            </a:r>
          </a:p>
          <a:p>
            <a:r>
              <a:rPr lang="en-US" dirty="0"/>
              <a:t>forms, and multimedia on web browsers.</a:t>
            </a:r>
          </a:p>
          <a:p>
            <a:r>
              <a:rPr lang="en-US" b="1" u="sng" dirty="0"/>
              <a:t>CSS</a:t>
            </a:r>
          </a:p>
          <a:p>
            <a:r>
              <a:rPr lang="en-US" dirty="0"/>
              <a:t>CSS (Cascading Style Sheets) is a stylesheet language used to describe the presentation (look </a:t>
            </a:r>
          </a:p>
          <a:p>
            <a:r>
              <a:rPr lang="en-US" dirty="0"/>
              <a:t>and formatting) of a document written in HTML. CSS controls the layout, colors , fonts, </a:t>
            </a:r>
          </a:p>
          <a:p>
            <a:r>
              <a:rPr lang="en-US" dirty="0"/>
              <a:t>spacing, and overall appearance of web pages, allowing developers to style content </a:t>
            </a:r>
          </a:p>
          <a:p>
            <a:r>
              <a:rPr lang="en-US" dirty="0"/>
              <a:t>independently of HTML structure.</a:t>
            </a:r>
          </a:p>
          <a:p>
            <a:endParaRPr lang="en-US" dirty="0"/>
          </a:p>
        </p:txBody>
      </p:sp>
    </p:spTree>
  </p:cSld>
  <p:clrMapOvr>
    <a:masterClrMapping/>
  </p:clrMapOvr>
  <p:transition advTm="4000">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05499-A85A-432E-906C-1C959AAAC06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0D56BD5-7254-48D8-8892-3663A909FC45}"/>
              </a:ext>
            </a:extLst>
          </p:cNvPr>
          <p:cNvSpPr>
            <a:spLocks noGrp="1"/>
          </p:cNvSpPr>
          <p:nvPr>
            <p:ph idx="1"/>
          </p:nvPr>
        </p:nvSpPr>
        <p:spPr/>
        <p:txBody>
          <a:bodyPr/>
          <a:lstStyle/>
          <a:p>
            <a:pPr marL="0" indent="0">
              <a:buNone/>
            </a:pPr>
            <a:r>
              <a:rPr lang="en-US" sz="1600" b="1" u="sng" dirty="0"/>
              <a:t>JAVA SCRIPT</a:t>
            </a:r>
            <a:r>
              <a:rPr lang="en-US" sz="1600" dirty="0"/>
              <a:t> </a:t>
            </a:r>
          </a:p>
          <a:p>
            <a:pPr marL="0" indent="0">
              <a:buNone/>
            </a:pPr>
            <a:r>
              <a:rPr lang="en-US" sz="1600" dirty="0"/>
              <a:t>JavaScript is a versatile, high-level programming language primarily used to make web </a:t>
            </a:r>
          </a:p>
          <a:p>
            <a:pPr marL="0" indent="0">
              <a:buNone/>
            </a:pPr>
            <a:r>
              <a:rPr lang="en-US" sz="1600" dirty="0"/>
              <a:t>pages interactive. It runs in the browser, allowing developers to add features like animations, </a:t>
            </a:r>
          </a:p>
          <a:p>
            <a:pPr marL="0" indent="0">
              <a:buNone/>
            </a:pPr>
            <a:r>
              <a:rPr lang="en-US" sz="1600" dirty="0"/>
              <a:t>form validation, dynamic updates, and interactive content to websites. </a:t>
            </a:r>
          </a:p>
          <a:p>
            <a:pPr marL="0" indent="0">
              <a:buNone/>
            </a:pPr>
            <a:r>
              <a:rPr lang="en-US" sz="1600" b="1" u="sng" dirty="0"/>
              <a:t>ANIMATION</a:t>
            </a:r>
          </a:p>
          <a:p>
            <a:pPr marL="0" indent="0">
              <a:buNone/>
            </a:pPr>
            <a:r>
              <a:rPr lang="en-US" sz="1600" dirty="0"/>
              <a:t>Animation is the process of creating the illusion of movement by displaying a sequence of </a:t>
            </a:r>
          </a:p>
          <a:p>
            <a:pPr marL="0" indent="0">
              <a:buNone/>
            </a:pPr>
            <a:r>
              <a:rPr lang="en-US" sz="1600" dirty="0"/>
              <a:t>images or frames that change slightly over time. It’s widely used in fields like film, gaming, </a:t>
            </a:r>
          </a:p>
          <a:p>
            <a:pPr marL="0" indent="0">
              <a:buNone/>
            </a:pPr>
            <a:r>
              <a:rPr lang="en-US" sz="1600" dirty="0"/>
              <a:t>web design, and advertising to engage viewers and convey dynamic stories, emotions, or </a:t>
            </a:r>
          </a:p>
          <a:p>
            <a:pPr marL="0" indent="0">
              <a:buNone/>
            </a:pPr>
            <a:r>
              <a:rPr lang="en-US" sz="1600" dirty="0"/>
              <a:t>interactions.</a:t>
            </a:r>
          </a:p>
          <a:p>
            <a:pPr marL="0" indent="0">
              <a:buNone/>
            </a:pPr>
            <a:r>
              <a:rPr lang="en-US" sz="1600" b="1" u="sng" dirty="0"/>
              <a:t>BOOTSTRAP</a:t>
            </a:r>
          </a:p>
          <a:p>
            <a:pPr marL="0" indent="0">
              <a:buNone/>
            </a:pPr>
            <a:r>
              <a:rPr lang="en-US" sz="1600" dirty="0"/>
              <a:t>Bootstrap was used in the Test Track project to create a responsive and user-friendly </a:t>
            </a:r>
          </a:p>
          <a:p>
            <a:pPr marL="0" indent="0">
              <a:buNone/>
            </a:pPr>
            <a:r>
              <a:rPr lang="en-US" sz="1600" dirty="0"/>
              <a:t>interface, ensuring seamless performance across various devices. Its pre-built components </a:t>
            </a:r>
          </a:p>
          <a:p>
            <a:pPr marL="0" indent="0">
              <a:buNone/>
            </a:pPr>
            <a:r>
              <a:rPr lang="en-US" sz="1600" dirty="0"/>
              <a:t>and grid system enabled quick development of consistent UI elements, such as navigation </a:t>
            </a:r>
          </a:p>
          <a:p>
            <a:pPr marL="0" indent="0">
              <a:buNone/>
            </a:pPr>
            <a:r>
              <a:rPr lang="en-US" sz="1600" dirty="0"/>
              <a:t>bars and buttons. Additionally, Bootstrap’s customizable framework allowed for easy </a:t>
            </a:r>
          </a:p>
          <a:p>
            <a:pPr marL="0" indent="0">
              <a:buNone/>
            </a:pPr>
            <a:r>
              <a:rPr lang="en-US" sz="1600" dirty="0"/>
              <a:t>adaptation of the design to fit the project’s specific requirements</a:t>
            </a:r>
          </a:p>
          <a:p>
            <a:pPr marL="0" indent="0">
              <a:buNone/>
            </a:pPr>
            <a:endParaRPr lang="en-US" sz="1600" dirty="0"/>
          </a:p>
        </p:txBody>
      </p:sp>
    </p:spTree>
    <p:extLst>
      <p:ext uri="{BB962C8B-B14F-4D97-AF65-F5344CB8AC3E}">
        <p14:creationId xmlns:p14="http://schemas.microsoft.com/office/powerpoint/2010/main" val="3359610739"/>
      </p:ext>
    </p:extLst>
  </p:cSld>
  <p:clrMapOvr>
    <a:masterClrMapping/>
  </p:clrMapOvr>
  <p:transition advTm="4000">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Key Features</a:t>
            </a:r>
          </a:p>
        </p:txBody>
      </p:sp>
      <p:sp>
        <p:nvSpPr>
          <p:cNvPr id="3" name="Rectangle 2"/>
          <p:cNvSpPr/>
          <p:nvPr/>
        </p:nvSpPr>
        <p:spPr>
          <a:xfrm>
            <a:off x="395536" y="1196752"/>
            <a:ext cx="8136904" cy="5678478"/>
          </a:xfrm>
          <a:prstGeom prst="rect">
            <a:avLst/>
          </a:prstGeom>
        </p:spPr>
        <p:txBody>
          <a:bodyPr wrap="square">
            <a:spAutoFit/>
          </a:bodyPr>
          <a:lstStyle/>
          <a:p>
            <a:r>
              <a:rPr lang="en-US" sz="1700" dirty="0"/>
              <a:t>1.</a:t>
            </a:r>
            <a:r>
              <a:rPr lang="en-US" sz="1700" u="sng" dirty="0"/>
              <a:t>Test Creation And Management</a:t>
            </a:r>
            <a:r>
              <a:rPr lang="en-US" sz="1700" dirty="0"/>
              <a:t>:</a:t>
            </a:r>
          </a:p>
          <a:p>
            <a:pPr marL="285750" indent="-285750">
              <a:buFont typeface="Arial" panose="020B0604020202020204" pitchFamily="34" charset="0"/>
              <a:buChar char="•"/>
            </a:pPr>
            <a:r>
              <a:rPr lang="en-US" sz="1700" dirty="0"/>
              <a:t>Users can design and customize multiple types of tests, including quizzes, exams, and assessments, with various question formats like multiple-choice, true/false, and essay.</a:t>
            </a:r>
          </a:p>
          <a:p>
            <a:pPr marL="285750" indent="-285750">
              <a:buFont typeface="Arial" panose="020B0604020202020204" pitchFamily="34" charset="0"/>
              <a:buChar char="•"/>
            </a:pPr>
            <a:r>
              <a:rPr lang="en-US" sz="1700" dirty="0"/>
              <a:t>Flexible tools allow the setup of time limits, difficulty levels, and custom scoring.</a:t>
            </a:r>
          </a:p>
          <a:p>
            <a:r>
              <a:rPr lang="en-US" sz="1700" dirty="0"/>
              <a:t>2.</a:t>
            </a:r>
            <a:r>
              <a:rPr lang="en-US" sz="1700" u="sng" dirty="0"/>
              <a:t>Centralized Question Bank</a:t>
            </a:r>
            <a:r>
              <a:rPr lang="en-US" sz="1700" dirty="0"/>
              <a:t>:</a:t>
            </a:r>
          </a:p>
          <a:p>
            <a:pPr marL="285750" indent="-285750">
              <a:buFont typeface="Arial" panose="020B0604020202020204" pitchFamily="34" charset="0"/>
              <a:buChar char="•"/>
            </a:pPr>
            <a:r>
              <a:rPr lang="en-US" sz="1700" dirty="0"/>
              <a:t>Text Track offers a comprehensive question bank that allows users to store, categorize, and reuse questions across multiple tests.</a:t>
            </a:r>
          </a:p>
          <a:p>
            <a:pPr marL="285750" indent="-285750">
              <a:buFont typeface="Arial" panose="020B0604020202020204" pitchFamily="34" charset="0"/>
              <a:buChar char="•"/>
            </a:pPr>
            <a:r>
              <a:rPr lang="en-US" sz="1700" dirty="0"/>
              <a:t>Search, filter, and tag questions by topic, subject, or complexity, providing an easy way to organize large question repositories.</a:t>
            </a:r>
          </a:p>
          <a:p>
            <a:r>
              <a:rPr lang="en-US" sz="1600" dirty="0"/>
              <a:t>3. </a:t>
            </a:r>
            <a:r>
              <a:rPr lang="en-US" sz="1600" u="sng" dirty="0"/>
              <a:t>Automated Grading and Instant Feedback:</a:t>
            </a:r>
          </a:p>
          <a:p>
            <a:pPr marL="285750" indent="-285750">
              <a:buFont typeface="Arial" panose="020B0604020202020204" pitchFamily="34" charset="0"/>
              <a:buChar char="•"/>
            </a:pPr>
            <a:r>
              <a:rPr lang="en-US" sz="1600" dirty="0"/>
              <a:t>Objective tests are automatically graded, delivering instant feedback and results to </a:t>
            </a:r>
            <a:r>
              <a:rPr lang="en-US" sz="1600" dirty="0" err="1"/>
              <a:t>participants.Detailed</a:t>
            </a:r>
            <a:r>
              <a:rPr lang="en-US" sz="1600" dirty="0"/>
              <a:t> analytics and reports help track performance trends, enabling deeper insights into student or employee progress.</a:t>
            </a:r>
          </a:p>
          <a:p>
            <a:r>
              <a:rPr lang="en-US" sz="1600" dirty="0"/>
              <a:t>4. </a:t>
            </a:r>
            <a:r>
              <a:rPr lang="en-US" sz="1600" u="sng" dirty="0"/>
              <a:t>Access Control and Test Scheduling:</a:t>
            </a:r>
          </a:p>
          <a:p>
            <a:pPr marL="285750" indent="-285750">
              <a:buFont typeface="Arial" panose="020B0604020202020204" pitchFamily="34" charset="0"/>
              <a:buChar char="•"/>
            </a:pPr>
            <a:r>
              <a:rPr lang="en-US" sz="1600" dirty="0"/>
              <a:t>Easily manage access to tests with role-based permissions and test scheduling </a:t>
            </a:r>
            <a:r>
              <a:rPr lang="en-US" sz="1600" dirty="0" err="1"/>
              <a:t>features.Grant</a:t>
            </a:r>
            <a:r>
              <a:rPr lang="en-US" sz="1600" dirty="0"/>
              <a:t> selective access to specific users, whether students, instructors, or administrators.</a:t>
            </a:r>
          </a:p>
          <a:p>
            <a:r>
              <a:rPr lang="en-US" sz="1600" dirty="0"/>
              <a:t>5. </a:t>
            </a:r>
            <a:r>
              <a:rPr lang="en-US" sz="1600" u="sng" dirty="0"/>
              <a:t>Real-Time Monitoring and Security:</a:t>
            </a:r>
          </a:p>
          <a:p>
            <a:pPr marL="285750" indent="-285750">
              <a:buFont typeface="Arial" panose="020B0604020202020204" pitchFamily="34" charset="0"/>
              <a:buChar char="•"/>
            </a:pPr>
            <a:r>
              <a:rPr lang="en-US" sz="1600" dirty="0"/>
              <a:t>Generate detailed performance reports for individuals or groups, identifying strengths and areas for </a:t>
            </a:r>
            <a:r>
              <a:rPr lang="en-US" sz="1600" dirty="0" err="1"/>
              <a:t>improvement.Export</a:t>
            </a:r>
            <a:r>
              <a:rPr lang="en-US" sz="1600" dirty="0"/>
              <a:t> reports for analysis or share them with stakeholders, ensuring transparency in test results.</a:t>
            </a:r>
            <a:endParaRPr lang="en-US" sz="1700" dirty="0"/>
          </a:p>
          <a:p>
            <a:endParaRPr lang="en-IN" sz="1700" dirty="0"/>
          </a:p>
          <a:p>
            <a:endParaRPr lang="en-US" sz="1700" dirty="0">
              <a:latin typeface="Times New Roman" pitchFamily="18" charset="0"/>
              <a:cs typeface="Times New Roman" pitchFamily="18" charset="0"/>
            </a:endParaRPr>
          </a:p>
        </p:txBody>
      </p:sp>
    </p:spTree>
  </p:cSld>
  <p:clrMapOvr>
    <a:masterClrMapping/>
  </p:clrMapOvr>
  <p:transition advTm="4000">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Project Highlights</a:t>
            </a:r>
          </a:p>
        </p:txBody>
      </p:sp>
      <p:sp>
        <p:nvSpPr>
          <p:cNvPr id="3" name="Rectangle 2"/>
          <p:cNvSpPr/>
          <p:nvPr/>
        </p:nvSpPr>
        <p:spPr>
          <a:xfrm>
            <a:off x="395536" y="1196752"/>
            <a:ext cx="8136904" cy="584775"/>
          </a:xfrm>
          <a:prstGeom prst="rect">
            <a:avLst/>
          </a:prstGeom>
        </p:spPr>
        <p:txBody>
          <a:bodyPr wrap="square">
            <a:spAutoFit/>
          </a:bodyPr>
          <a:lstStyle/>
          <a:p>
            <a:endParaRPr lang="en-US" sz="3200" dirty="0">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2739D0B8-ED32-4D40-AA23-57EFD2B02F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893643"/>
            <a:ext cx="7537161" cy="2823390"/>
          </a:xfrm>
          <a:prstGeom prst="rect">
            <a:avLst/>
          </a:prstGeom>
        </p:spPr>
      </p:pic>
      <p:pic>
        <p:nvPicPr>
          <p:cNvPr id="7" name="Picture 6">
            <a:extLst>
              <a:ext uri="{FF2B5EF4-FFF2-40B4-BE49-F238E27FC236}">
                <a16:creationId xmlns:a16="http://schemas.microsoft.com/office/drawing/2014/main" id="{79DCE43A-8509-46EF-A25C-B3032626A8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575" y="3717033"/>
            <a:ext cx="7393145" cy="2622968"/>
          </a:xfrm>
          <a:prstGeom prst="rect">
            <a:avLst/>
          </a:prstGeom>
        </p:spPr>
      </p:pic>
    </p:spTree>
  </p:cSld>
  <p:clrMapOvr>
    <a:masterClrMapping/>
  </p:clrMapOvr>
  <p:transition advTm="4000">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59906-0204-436D-B917-DE405164EB38}"/>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506FCFB6-6759-4910-95D2-81CF8F8F364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5536" y="1052736"/>
            <a:ext cx="8229600" cy="2664296"/>
          </a:xfrm>
        </p:spPr>
      </p:pic>
      <p:pic>
        <p:nvPicPr>
          <p:cNvPr id="7" name="Picture 6">
            <a:extLst>
              <a:ext uri="{FF2B5EF4-FFF2-40B4-BE49-F238E27FC236}">
                <a16:creationId xmlns:a16="http://schemas.microsoft.com/office/drawing/2014/main" id="{6E752A37-5108-4FFA-B1E7-2C98EEB1A7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042" y="3931568"/>
            <a:ext cx="3923926" cy="2241667"/>
          </a:xfrm>
          <a:prstGeom prst="rect">
            <a:avLst/>
          </a:prstGeom>
        </p:spPr>
      </p:pic>
      <p:pic>
        <p:nvPicPr>
          <p:cNvPr id="11" name="Picture 10">
            <a:extLst>
              <a:ext uri="{FF2B5EF4-FFF2-40B4-BE49-F238E27FC236}">
                <a16:creationId xmlns:a16="http://schemas.microsoft.com/office/drawing/2014/main" id="{D558B584-4DE8-473C-84CE-BC73062E2D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5536" y="3931568"/>
            <a:ext cx="4104456" cy="2305744"/>
          </a:xfrm>
          <a:prstGeom prst="rect">
            <a:avLst/>
          </a:prstGeom>
        </p:spPr>
      </p:pic>
    </p:spTree>
    <p:extLst>
      <p:ext uri="{BB962C8B-B14F-4D97-AF65-F5344CB8AC3E}">
        <p14:creationId xmlns:p14="http://schemas.microsoft.com/office/powerpoint/2010/main" val="390744108"/>
      </p:ext>
    </p:extLst>
  </p:cSld>
  <p:clrMapOvr>
    <a:masterClrMapping/>
  </p:clrMapOvr>
  <p:transition advTm="4000">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Conclusion</a:t>
            </a:r>
          </a:p>
        </p:txBody>
      </p:sp>
      <p:sp>
        <p:nvSpPr>
          <p:cNvPr id="3" name="Rectangle 2"/>
          <p:cNvSpPr/>
          <p:nvPr/>
        </p:nvSpPr>
        <p:spPr>
          <a:xfrm>
            <a:off x="395536" y="1196752"/>
            <a:ext cx="8136904" cy="3477875"/>
          </a:xfrm>
          <a:prstGeom prst="rect">
            <a:avLst/>
          </a:prstGeom>
        </p:spPr>
        <p:txBody>
          <a:bodyPr wrap="square">
            <a:spAutoFit/>
          </a:bodyPr>
          <a:lstStyle/>
          <a:p>
            <a:r>
              <a:rPr lang="en-US" sz="2000" dirty="0">
                <a:latin typeface="Times New Roman" pitchFamily="18" charset="0"/>
                <a:cs typeface="Times New Roman" pitchFamily="18" charset="0"/>
              </a:rPr>
              <a:t>The Test Track website successfully addresses the challenges associated with traditional assessment methods by offering a streamlined, automated, and user-friendly platform for creating, administering, and grading online tests. With features like real-time progress tracking, instant feedback, and an analytics dashboard, it enhances the testing experience for both administrators and test-takers. By utilizing responsive design and powerful front-end technologies like Bootstrap, the platform ensures accessibility across devices, providing a consistent experience. Moving forward, the system's potential for integration with other platforms, AI-powered features, and </a:t>
            </a:r>
            <a:r>
              <a:rPr lang="en-US" sz="2000" dirty="0" err="1">
                <a:latin typeface="Times New Roman" pitchFamily="18" charset="0"/>
                <a:cs typeface="Times New Roman" pitchFamily="18" charset="0"/>
              </a:rPr>
              <a:t>mobileapplications</a:t>
            </a:r>
            <a:r>
              <a:rPr lang="en-US" sz="2000" dirty="0">
                <a:latin typeface="Times New Roman" pitchFamily="18" charset="0"/>
                <a:cs typeface="Times New Roman" pitchFamily="18" charset="0"/>
              </a:rPr>
              <a:t> makes Test Track a scalable solution for modern educational and corporate environments</a:t>
            </a:r>
          </a:p>
        </p:txBody>
      </p:sp>
    </p:spTree>
  </p:cSld>
  <p:clrMapOvr>
    <a:masterClrMapping/>
  </p:clrMapOvr>
  <p:transition advTm="4000">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References</a:t>
            </a:r>
          </a:p>
        </p:txBody>
      </p:sp>
      <p:sp>
        <p:nvSpPr>
          <p:cNvPr id="4" name="Rectangle 3">
            <a:extLst>
              <a:ext uri="{FF2B5EF4-FFF2-40B4-BE49-F238E27FC236}">
                <a16:creationId xmlns:a16="http://schemas.microsoft.com/office/drawing/2014/main" id="{1671EE5D-9B44-43AF-94D4-856120768B2E}"/>
              </a:ext>
            </a:extLst>
          </p:cNvPr>
          <p:cNvSpPr/>
          <p:nvPr/>
        </p:nvSpPr>
        <p:spPr>
          <a:xfrm>
            <a:off x="467544" y="952108"/>
            <a:ext cx="8208912" cy="3139321"/>
          </a:xfrm>
          <a:prstGeom prst="rect">
            <a:avLst/>
          </a:prstGeom>
        </p:spPr>
        <p:txBody>
          <a:bodyPr wrap="square">
            <a:spAutoFit/>
          </a:bodyPr>
          <a:lstStyle/>
          <a:p>
            <a:r>
              <a:rPr lang="en-US" sz="2200" dirty="0"/>
              <a:t>References used by us to solve the problems while creating the fitness tracker:</a:t>
            </a:r>
          </a:p>
          <a:p>
            <a:r>
              <a:rPr lang="en-US" sz="2200" dirty="0"/>
              <a:t>8.1 MDN Docs : https://developer.mozilla.org/en-US/</a:t>
            </a:r>
          </a:p>
          <a:p>
            <a:r>
              <a:rPr lang="en-US" sz="2200" dirty="0"/>
              <a:t>8.2 W3 Schools : https://www.w3schools.com/</a:t>
            </a:r>
          </a:p>
          <a:p>
            <a:r>
              <a:rPr lang="en-US" sz="2200" dirty="0"/>
              <a:t>8.3 </a:t>
            </a:r>
            <a:r>
              <a:rPr lang="en-US" sz="2200" dirty="0" err="1"/>
              <a:t>TestBook</a:t>
            </a:r>
            <a:r>
              <a:rPr lang="en-US" sz="2200" dirty="0"/>
              <a:t> : https://testbook.com/</a:t>
            </a:r>
          </a:p>
          <a:p>
            <a:r>
              <a:rPr lang="en-US" sz="2200" dirty="0"/>
              <a:t>8.4 Google Fonts : https://fonts.google.com/</a:t>
            </a:r>
          </a:p>
          <a:p>
            <a:r>
              <a:rPr lang="en-US" sz="2200" dirty="0"/>
              <a:t>8.5 </a:t>
            </a:r>
            <a:r>
              <a:rPr lang="en-US" sz="2200" dirty="0" err="1"/>
              <a:t>Chatgpt</a:t>
            </a:r>
            <a:r>
              <a:rPr lang="en-US" sz="2200" dirty="0"/>
              <a:t> : https://chatgpt.com/</a:t>
            </a:r>
          </a:p>
          <a:p>
            <a:r>
              <a:rPr lang="en-US" sz="2200" dirty="0"/>
              <a:t>8.6 </a:t>
            </a:r>
            <a:r>
              <a:rPr lang="en-US" sz="2200" dirty="0" err="1"/>
              <a:t>Pexels</a:t>
            </a:r>
            <a:r>
              <a:rPr lang="en-US" sz="2200" dirty="0"/>
              <a:t> : https://www.pexels.com/</a:t>
            </a:r>
          </a:p>
          <a:p>
            <a:r>
              <a:rPr lang="en-US" sz="2200" dirty="0"/>
              <a:t>8.7 CSS Scan : https://getcssscan.com/css-box-shadow-example</a:t>
            </a:r>
          </a:p>
        </p:txBody>
      </p:sp>
    </p:spTree>
  </p:cSld>
  <p:clrMapOvr>
    <a:masterClrMapping/>
  </p:clrMapOvr>
  <p:transition advTm="4000">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AutoShape 4"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0" name="AutoShape 6"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2" name="AutoShape 8"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4" name="Picture 10" descr="Thank you cards Images | Free Vectors, Stock Photos &amp; PSD"/>
          <p:cNvPicPr>
            <a:picLocks noChangeAspect="1" noChangeArrowheads="1"/>
          </p:cNvPicPr>
          <p:nvPr/>
        </p:nvPicPr>
        <p:blipFill>
          <a:blip r:embed="rId2" cstate="print"/>
          <a:srcRect/>
          <a:stretch>
            <a:fillRect/>
          </a:stretch>
        </p:blipFill>
        <p:spPr bwMode="auto">
          <a:xfrm>
            <a:off x="0" y="857232"/>
            <a:ext cx="9144000" cy="5786478"/>
          </a:xfrm>
          <a:prstGeom prst="rect">
            <a:avLst/>
          </a:prstGeom>
          <a:noFill/>
        </p:spPr>
      </p:pic>
    </p:spTree>
  </p:cSld>
  <p:clrMapOvr>
    <a:masterClrMapping/>
  </p:clrMapOvr>
  <p:transition advTm="4000">
    <p:cut/>
  </p:transition>
</p:sld>
</file>

<file path=ppt/theme/theme1.xml><?xml version="1.0" encoding="utf-8"?>
<a:theme xmlns:a="http://schemas.openxmlformats.org/drawingml/2006/main" name="Bubble Sor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563</TotalTime>
  <Words>895</Words>
  <Application>Microsoft Office PowerPoint</Application>
  <PresentationFormat>On-screen Show (4:3)</PresentationFormat>
  <Paragraphs>82</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ＭＳ Ｐゴシック</vt:lpstr>
      <vt:lpstr>ＭＳ Ｐゴシック</vt:lpstr>
      <vt:lpstr>Arial</vt:lpstr>
      <vt:lpstr>Arial Black</vt:lpstr>
      <vt:lpstr>Calibri</vt:lpstr>
      <vt:lpstr>Times New Roman</vt:lpstr>
      <vt:lpstr>Bubble Sort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Cricket</dc:title>
  <dc:creator>abc</dc:creator>
  <cp:lastModifiedBy>KRISH GARG</cp:lastModifiedBy>
  <cp:revision>37</cp:revision>
  <dcterms:created xsi:type="dcterms:W3CDTF">2022-12-12T14:14:34Z</dcterms:created>
  <dcterms:modified xsi:type="dcterms:W3CDTF">2024-11-25T10:59:57Z</dcterms:modified>
</cp:coreProperties>
</file>